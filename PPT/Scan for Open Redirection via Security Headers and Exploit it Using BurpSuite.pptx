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62" r:id="rId15"/>
    <p:sldId id="263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6750" y="588644"/>
            <a:ext cx="821690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04717" y="6123420"/>
            <a:ext cx="1998567" cy="5357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50" y="588644"/>
            <a:ext cx="1380489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6750" y="6215246"/>
            <a:ext cx="7212965" cy="362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juice-shop.herokuapp.com/#/redirect?to=https://example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450" y="6227946"/>
            <a:ext cx="7187565" cy="3371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ts val="1280"/>
              </a:lnSpc>
              <a:spcBef>
                <a:spcPts val="50"/>
              </a:spcBef>
            </a:pPr>
            <a:r>
              <a:rPr sz="1100" b="1" spc="-10" dirty="0">
                <a:solidFill>
                  <a:srgbClr val="AEABAB"/>
                </a:solidFill>
                <a:latin typeface="Calibri"/>
                <a:cs typeface="Calibri"/>
              </a:rPr>
              <a:t>CONFIDENTIAL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: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The</a:t>
            </a:r>
            <a:r>
              <a:rPr sz="1100" spc="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information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 this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document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belongs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Boston Institute</a:t>
            </a:r>
            <a:r>
              <a:rPr sz="11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Analytics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LLC.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Any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unauthorized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 sharing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material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prohibited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subject</a:t>
            </a:r>
            <a:r>
              <a:rPr sz="11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legal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action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under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breach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 IP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confidentiality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clauses.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9550" y="914400"/>
              <a:ext cx="5153025" cy="14192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59164" y="2667000"/>
            <a:ext cx="9273795" cy="137088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dirty="0">
                <a:solidFill>
                  <a:schemeClr val="bg1"/>
                </a:solidFill>
              </a:rPr>
              <a:t>Scan for Open Redirection via Security Headers and Exploit it Using </a:t>
            </a:r>
            <a:r>
              <a:rPr lang="en-US" sz="4400" dirty="0" err="1">
                <a:solidFill>
                  <a:schemeClr val="bg1"/>
                </a:solidFill>
              </a:rPr>
              <a:t>BurpSuite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56977-2CE9-3F00-7ED0-E0647892B181}"/>
              </a:ext>
            </a:extLst>
          </p:cNvPr>
          <p:cNvSpPr txBox="1"/>
          <p:nvPr/>
        </p:nvSpPr>
        <p:spPr>
          <a:xfrm>
            <a:off x="36871" y="5581615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Presented By : Jheel Bhandia.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7085" y="383034"/>
            <a:ext cx="1380489" cy="5410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Agenda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F11AB-1BF6-0F22-E6A8-0FAEA1595B06}"/>
              </a:ext>
            </a:extLst>
          </p:cNvPr>
          <p:cNvSpPr txBox="1"/>
          <p:nvPr/>
        </p:nvSpPr>
        <p:spPr>
          <a:xfrm>
            <a:off x="533400" y="1159160"/>
            <a:ext cx="11430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Introduction to Open Redirection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Target Website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Security Headers Scan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BurpSuite</a:t>
            </a:r>
            <a:r>
              <a:rPr lang="en-IN" dirty="0"/>
              <a:t> Setup &amp;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Open Redirection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Attack Scenario (Phishing)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Risk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Mitigation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81000"/>
            <a:ext cx="10153650" cy="5321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INTRODUCTION TO OPEN REDIRECTION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D42C8-8DA2-A41D-1E15-88A6F3917D01}"/>
              </a:ext>
            </a:extLst>
          </p:cNvPr>
          <p:cNvSpPr txBox="1"/>
          <p:nvPr/>
        </p:nvSpPr>
        <p:spPr>
          <a:xfrm>
            <a:off x="120445" y="1371600"/>
            <a:ext cx="11963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Open Redirection?</a:t>
            </a:r>
          </a:p>
          <a:p>
            <a:endParaRPr lang="en-US" b="1" dirty="0"/>
          </a:p>
          <a:p>
            <a:r>
              <a:rPr lang="en-US" dirty="0"/>
              <a:t>Open Redirect occurs when a website redirects users to external URLs without proper validation</a:t>
            </a:r>
          </a:p>
          <a:p>
            <a:r>
              <a:rPr lang="en-US" dirty="0"/>
              <a:t>Attackers exploit this to perform phishing attacks</a:t>
            </a:r>
          </a:p>
          <a:p>
            <a:r>
              <a:rPr lang="en-US" dirty="0"/>
              <a:t>Users trust the original website and get redirected unknowingly</a:t>
            </a:r>
          </a:p>
          <a:p>
            <a:endParaRPr lang="en-US" dirty="0"/>
          </a:p>
          <a:p>
            <a:r>
              <a:rPr lang="en-US" b="1" dirty="0"/>
              <a:t>Why is it Dangerous?</a:t>
            </a:r>
          </a:p>
          <a:p>
            <a:endParaRPr lang="en-US" b="1" dirty="0"/>
          </a:p>
          <a:p>
            <a:r>
              <a:rPr lang="en-US" dirty="0"/>
              <a:t>Phishing</a:t>
            </a:r>
          </a:p>
          <a:p>
            <a:r>
              <a:rPr lang="en-US" dirty="0"/>
              <a:t>Credential theft</a:t>
            </a:r>
          </a:p>
          <a:p>
            <a:r>
              <a:rPr lang="en-US" dirty="0"/>
              <a:t>Loss of user trust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64512-F5B0-6C7C-684C-ECF27C69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4"/>
            <a:ext cx="9848850" cy="782956"/>
          </a:xfrm>
        </p:spPr>
        <p:txBody>
          <a:bodyPr/>
          <a:lstStyle/>
          <a:p>
            <a:r>
              <a:rPr lang="en-IN" dirty="0"/>
              <a:t>TARGET WEBSITE SELECTION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AF7CE-6D34-DB65-1FA8-5BD6C18D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11125200" cy="3046988"/>
          </a:xfrm>
        </p:spPr>
        <p:txBody>
          <a:bodyPr/>
          <a:lstStyle/>
          <a:p>
            <a:r>
              <a:rPr lang="en-US" b="1" dirty="0"/>
              <a:t>Target Website :</a:t>
            </a:r>
          </a:p>
          <a:p>
            <a:r>
              <a:rPr lang="en-US" b="1" dirty="0"/>
              <a:t>                     OWASP Juice Shop</a:t>
            </a:r>
          </a:p>
          <a:p>
            <a:endParaRPr lang="en-US" dirty="0"/>
          </a:p>
          <a:p>
            <a:r>
              <a:rPr lang="en-US" b="1" dirty="0"/>
              <a:t>Reason for Selection 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Legal and safe testing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Intentionally vulnerable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Recommended for academic projects</a:t>
            </a:r>
          </a:p>
          <a:p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271346-828F-76D0-618F-512F77EEC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371600"/>
            <a:ext cx="7543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3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7106C-E05F-4DDF-D1E4-69ABAABD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5"/>
            <a:ext cx="8629650" cy="706756"/>
          </a:xfrm>
        </p:spPr>
        <p:txBody>
          <a:bodyPr/>
          <a:lstStyle/>
          <a:p>
            <a:r>
              <a:rPr lang="en-IN" dirty="0"/>
              <a:t>SECURITY HEADERS SCAN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50BD7-74C3-4BBB-D6AE-820A11B44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1661993"/>
          </a:xfrm>
        </p:spPr>
        <p:txBody>
          <a:bodyPr/>
          <a:lstStyle/>
          <a:p>
            <a:r>
              <a:rPr lang="en-US" b="1" dirty="0"/>
              <a:t>Tool Used :</a:t>
            </a:r>
          </a:p>
          <a:p>
            <a:r>
              <a:rPr lang="en-US" dirty="0"/>
              <a:t>        </a:t>
            </a:r>
            <a:r>
              <a:rPr lang="en-US" dirty="0" err="1"/>
              <a:t>SecurityHeaders</a:t>
            </a:r>
            <a:r>
              <a:rPr lang="en-US" dirty="0"/>
              <a:t> by </a:t>
            </a:r>
            <a:r>
              <a:rPr lang="en-US" dirty="0" err="1"/>
              <a:t>Snyk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Scan Result :</a:t>
            </a:r>
          </a:p>
          <a:p>
            <a:r>
              <a:rPr lang="en-US" dirty="0"/>
              <a:t>        Security Grade: </a:t>
            </a:r>
            <a:r>
              <a:rPr lang="en-US" b="1" dirty="0"/>
              <a:t>D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63718F-1C40-348E-3CB8-ED0FE1880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315829"/>
            <a:ext cx="8229600" cy="422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384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0D68-19C6-B158-9A35-3F453D02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4"/>
            <a:ext cx="10458450" cy="782956"/>
          </a:xfrm>
        </p:spPr>
        <p:txBody>
          <a:bodyPr/>
          <a:lstStyle/>
          <a:p>
            <a:r>
              <a:rPr lang="en-IN" dirty="0"/>
              <a:t>MISSING / MISCONFIGURED SECURITY HEADERS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BE3A3-ABC7-2CAE-434C-301B60EDB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396550"/>
            <a:ext cx="10972800" cy="4431983"/>
          </a:xfrm>
        </p:spPr>
        <p:txBody>
          <a:bodyPr/>
          <a:lstStyle/>
          <a:p>
            <a:r>
              <a:rPr lang="en-US" b="1" dirty="0"/>
              <a:t>Missing Security Headers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Content-Security-Policy (CSP)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Strict-Transport-Security (HSTS)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Referrer-Policy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Permissions-Policy</a:t>
            </a:r>
          </a:p>
          <a:p>
            <a:endParaRPr lang="en-US" dirty="0"/>
          </a:p>
          <a:p>
            <a:r>
              <a:rPr lang="en-US" b="1" dirty="0"/>
              <a:t>Impact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attack surface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phishing and redirection attacks</a:t>
            </a:r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B9E279-436D-3BE1-40A8-F7CAA6584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905000"/>
            <a:ext cx="6934200" cy="283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37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5764E-2876-5E78-7A33-BEE41BAE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4"/>
            <a:ext cx="10001250" cy="630556"/>
          </a:xfrm>
        </p:spPr>
        <p:txBody>
          <a:bodyPr/>
          <a:lstStyle/>
          <a:p>
            <a:r>
              <a:rPr lang="en-IN" dirty="0"/>
              <a:t>BURPSUITE SETUP &amp; CONFIGURATION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1582B-AFDE-8E9E-BD10-DF0631AD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492990"/>
          </a:xfrm>
        </p:spPr>
        <p:txBody>
          <a:bodyPr/>
          <a:lstStyle/>
          <a:p>
            <a:r>
              <a:rPr lang="en-US" b="1" dirty="0"/>
              <a:t>Tool Used</a:t>
            </a:r>
          </a:p>
          <a:p>
            <a:r>
              <a:rPr lang="en-US" dirty="0" err="1"/>
              <a:t>BurpSuite</a:t>
            </a:r>
            <a:r>
              <a:rPr lang="en-US" dirty="0"/>
              <a:t> Professional</a:t>
            </a:r>
          </a:p>
          <a:p>
            <a:endParaRPr lang="en-US" dirty="0"/>
          </a:p>
          <a:p>
            <a:r>
              <a:rPr lang="en-US" b="1" dirty="0"/>
              <a:t>Configuration Steps</a:t>
            </a:r>
          </a:p>
          <a:p>
            <a:r>
              <a:rPr lang="en-US" dirty="0" err="1"/>
              <a:t>BurpSuite</a:t>
            </a:r>
            <a:r>
              <a:rPr lang="en-US" dirty="0"/>
              <a:t> launched in Kali Linux</a:t>
            </a:r>
          </a:p>
          <a:p>
            <a:r>
              <a:rPr lang="en-US" dirty="0"/>
              <a:t>Proxy enabled</a:t>
            </a:r>
          </a:p>
          <a:p>
            <a:r>
              <a:rPr lang="en-US" dirty="0"/>
              <a:t>Built-in browser used</a:t>
            </a:r>
          </a:p>
          <a:p>
            <a:r>
              <a:rPr lang="en-US" dirty="0"/>
              <a:t>HTTP traffic intercepted</a:t>
            </a:r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E28526-61CE-EE6E-35B1-96C8F37EE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438910"/>
            <a:ext cx="7391400" cy="384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3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B49B-5781-F636-AEC3-32F03F1EF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4"/>
            <a:ext cx="10972800" cy="706756"/>
          </a:xfrm>
        </p:spPr>
        <p:txBody>
          <a:bodyPr/>
          <a:lstStyle/>
          <a:p>
            <a:r>
              <a:rPr lang="en-IN" dirty="0"/>
              <a:t>OPEN REDIRECTION VULNERABILITY TESTING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2B819A31-822A-7E37-49F1-914E2C195594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609600" y="1577340"/>
            <a:ext cx="10972800" cy="286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/>
              <a:t>Identifying Redirect Parameter</a:t>
            </a:r>
          </a:p>
          <a:p>
            <a:endParaRPr lang="en-US" b="1" dirty="0"/>
          </a:p>
          <a:p>
            <a:r>
              <a:rPr lang="en-US" dirty="0"/>
              <a:t>Redirect functionality identified using:</a:t>
            </a:r>
          </a:p>
          <a:p>
            <a:pPr rtl="0"/>
            <a:r>
              <a:rPr lang="en-US" dirty="0"/>
              <a:t>      #/redirect?to=</a:t>
            </a:r>
          </a:p>
          <a:p>
            <a:pPr rtl="0"/>
            <a:endParaRPr lang="en-US" dirty="0"/>
          </a:p>
          <a:p>
            <a:r>
              <a:rPr lang="en-US" b="1" dirty="0"/>
              <a:t>Testing Method</a:t>
            </a:r>
          </a:p>
          <a:p>
            <a:endParaRPr lang="en-US" b="1" dirty="0"/>
          </a:p>
          <a:p>
            <a:r>
              <a:rPr lang="en-US" dirty="0"/>
              <a:t>Browser-based testing</a:t>
            </a:r>
          </a:p>
          <a:p>
            <a:r>
              <a:rPr lang="en-US" dirty="0" err="1"/>
              <a:t>BurpSuite</a:t>
            </a:r>
            <a:r>
              <a:rPr lang="en-US" dirty="0"/>
              <a:t> Repeater (manual request)</a:t>
            </a:r>
          </a:p>
          <a:p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D1EC07-4587-1984-9E56-825D22156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295400"/>
            <a:ext cx="7010400" cy="402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1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A003-0FFE-61A3-A3DA-DBE95372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239250" cy="782956"/>
          </a:xfrm>
        </p:spPr>
        <p:txBody>
          <a:bodyPr/>
          <a:lstStyle/>
          <a:p>
            <a:r>
              <a:rPr lang="en-IN" dirty="0"/>
              <a:t>OPEN REDIRECT DEMONSTRATION (PRACTICAL)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6DDB-0301-7C1D-4FFB-507E35748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82059"/>
            <a:ext cx="10972800" cy="1851660"/>
          </a:xfrm>
        </p:spPr>
        <p:txBody>
          <a:bodyPr/>
          <a:lstStyle/>
          <a:p>
            <a:r>
              <a:rPr lang="en-US" b="1" dirty="0"/>
              <a:t>Payload Used</a:t>
            </a:r>
          </a:p>
          <a:p>
            <a:pPr rtl="0"/>
            <a:r>
              <a:rPr lang="en-US" dirty="0">
                <a:hlinkClick r:id="rId2"/>
              </a:rPr>
              <a:t>https://juice-shop.herokuapp.com/#/redirect?to=https://example.com</a:t>
            </a:r>
            <a:endParaRPr lang="en-US" dirty="0"/>
          </a:p>
          <a:p>
            <a:pPr rtl="0"/>
            <a:endParaRPr lang="en-US" dirty="0"/>
          </a:p>
          <a:p>
            <a:r>
              <a:rPr lang="en-US" b="1" dirty="0"/>
              <a:t>Observation</a:t>
            </a:r>
          </a:p>
          <a:p>
            <a:r>
              <a:rPr lang="en-US" dirty="0"/>
              <a:t>Application allows redirection to external URLs</a:t>
            </a:r>
          </a:p>
          <a:p>
            <a:r>
              <a:rPr lang="en-US" dirty="0"/>
              <a:t>No validation performed</a:t>
            </a:r>
          </a:p>
          <a:p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317E38-460C-808D-BA13-2DFAD3760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25" y="1907889"/>
            <a:ext cx="7239000" cy="375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58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B894-DA57-38E4-8B82-FF14144F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4"/>
            <a:ext cx="8858250" cy="706756"/>
          </a:xfrm>
        </p:spPr>
        <p:txBody>
          <a:bodyPr/>
          <a:lstStyle/>
          <a:p>
            <a:r>
              <a:rPr lang="en-IN" dirty="0"/>
              <a:t>ATTACK SCENARIO (PHISHING)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BB9A0-233A-99EC-836E-212165E70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154984"/>
          </a:xfrm>
        </p:spPr>
        <p:txBody>
          <a:bodyPr/>
          <a:lstStyle/>
          <a:p>
            <a:r>
              <a:rPr lang="en-US" b="1" dirty="0"/>
              <a:t>Attack Flow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Attacker creates malicious redirect link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trusts the original website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is redirected to fake website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Credentials are stolen</a:t>
            </a:r>
          </a:p>
          <a:p>
            <a:endParaRPr lang="en-US" dirty="0"/>
          </a:p>
          <a:p>
            <a:r>
              <a:rPr lang="en-US" b="1" dirty="0"/>
              <a:t>Note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real phishing attack performed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Demonstrated conceptually for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02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B81C-FADD-127E-D032-CBA4CDB39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5"/>
            <a:ext cx="9544050" cy="782956"/>
          </a:xfrm>
        </p:spPr>
        <p:txBody>
          <a:bodyPr/>
          <a:lstStyle/>
          <a:p>
            <a:r>
              <a:rPr lang="en-IN" dirty="0"/>
              <a:t>SECURITY RISK 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50C02-5BC9-2D51-D22C-5BBBDF3CA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89"/>
          </a:xfrm>
        </p:spPr>
        <p:txBody>
          <a:bodyPr/>
          <a:lstStyle/>
          <a:p>
            <a:r>
              <a:rPr lang="en-US" b="1" dirty="0"/>
              <a:t>Risk Level: Medium to High</a:t>
            </a:r>
          </a:p>
          <a:p>
            <a:endParaRPr lang="en-US" b="1" dirty="0"/>
          </a:p>
          <a:p>
            <a:r>
              <a:rPr lang="en-US" b="1" dirty="0"/>
              <a:t>Potential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Phishing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Credential theft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Brand reputation damage</a:t>
            </a:r>
          </a:p>
          <a:p>
            <a:endParaRPr lang="en-US" dirty="0"/>
          </a:p>
          <a:p>
            <a:r>
              <a:rPr lang="en-US" b="1" dirty="0"/>
              <a:t>Affected Component</a:t>
            </a:r>
          </a:p>
          <a:p>
            <a:r>
              <a:rPr lang="en-US" dirty="0"/>
              <a:t>Redirect endpoint using to parameter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8264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8CBE7-1706-76A4-DB89-36BE1FCF4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5"/>
            <a:ext cx="8553450" cy="782956"/>
          </a:xfrm>
        </p:spPr>
        <p:txBody>
          <a:bodyPr/>
          <a:lstStyle/>
          <a:p>
            <a:r>
              <a:rPr lang="en-IN" dirty="0"/>
              <a:t>MITIGATION STRATEGIES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B6E15-3239-3AB9-8CBC-852149563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3323987"/>
          </a:xfrm>
        </p:spPr>
        <p:txBody>
          <a:bodyPr/>
          <a:lstStyle/>
          <a:p>
            <a:r>
              <a:rPr lang="en-US" b="1" dirty="0"/>
              <a:t>Recommended Fixes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Validate redirect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 only internal URLs (whitelisting)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Avoid direct user-controlled redirects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proper security headers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 OWASP secure coding practices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467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8FFF-2B29-7666-F2E5-4364E5F8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5"/>
            <a:ext cx="5657850" cy="706756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A2F589-B861-8FD4-7022-DD6BCCF8F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Redirect vulnerability was identified and analyzed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Vulnerability can be misused for phishing attacks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validation and security headers can mitigate the risk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BurpSuite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SecurityHeaders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effective tools for testing</a:t>
            </a:r>
          </a:p>
        </p:txBody>
      </p:sp>
    </p:spTree>
    <p:extLst>
      <p:ext uri="{BB962C8B-B14F-4D97-AF65-F5344CB8AC3E}">
        <p14:creationId xmlns:p14="http://schemas.microsoft.com/office/powerpoint/2010/main" val="2031185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2362200"/>
            <a:ext cx="373507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dirty="0"/>
              <a:t>Questions</a:t>
            </a:r>
            <a:r>
              <a:rPr sz="6000" spc="-114" dirty="0"/>
              <a:t> </a:t>
            </a:r>
            <a:r>
              <a:rPr sz="6000" spc="-50" dirty="0"/>
              <a:t>?</a:t>
            </a:r>
            <a:endParaRPr sz="6000" dirty="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450" y="6227946"/>
            <a:ext cx="7187565" cy="3371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ts val="1280"/>
              </a:lnSpc>
              <a:spcBef>
                <a:spcPts val="50"/>
              </a:spcBef>
            </a:pPr>
            <a:r>
              <a:rPr sz="1100" b="1" spc="-10" dirty="0">
                <a:solidFill>
                  <a:srgbClr val="AEABAB"/>
                </a:solidFill>
                <a:latin typeface="Calibri"/>
                <a:cs typeface="Calibri"/>
              </a:rPr>
              <a:t>CONFIDENTIAL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: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The</a:t>
            </a:r>
            <a:r>
              <a:rPr sz="1100" spc="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information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 this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document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belongs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Boston Institute</a:t>
            </a:r>
            <a:r>
              <a:rPr sz="11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Analytics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LLC.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Any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unauthorized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 sharing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material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prohibited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subject</a:t>
            </a:r>
            <a:r>
              <a:rPr sz="11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legal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action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under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breach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 IP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confidentiality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clauses.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7345" y="2405443"/>
            <a:ext cx="3881120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600" dirty="0">
                <a:solidFill>
                  <a:srgbClr val="FFFFFF"/>
                </a:solidFill>
              </a:rPr>
              <a:t>Thank</a:t>
            </a:r>
            <a:r>
              <a:rPr sz="6600" spc="-110" dirty="0">
                <a:solidFill>
                  <a:srgbClr val="FFFFFF"/>
                </a:solidFill>
              </a:rPr>
              <a:t> </a:t>
            </a:r>
            <a:r>
              <a:rPr sz="6600" spc="-470" dirty="0">
                <a:solidFill>
                  <a:srgbClr val="FFFFFF"/>
                </a:solidFill>
              </a:rPr>
              <a:t>Y</a:t>
            </a:r>
            <a:r>
              <a:rPr sz="6600" spc="15" dirty="0">
                <a:solidFill>
                  <a:srgbClr val="FFFFFF"/>
                </a:solidFill>
              </a:rPr>
              <a:t>o</a:t>
            </a:r>
            <a:r>
              <a:rPr sz="6600" spc="20" dirty="0">
                <a:solidFill>
                  <a:srgbClr val="FFFFFF"/>
                </a:solidFill>
              </a:rPr>
              <a:t>u</a:t>
            </a:r>
            <a:r>
              <a:rPr sz="6600" spc="40" dirty="0">
                <a:solidFill>
                  <a:srgbClr val="FFFFFF"/>
                </a:solidFill>
              </a:rPr>
              <a:t>!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559</Words>
  <Application>Microsoft Office PowerPoint</Application>
  <PresentationFormat>Widescreen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Scan for Open Redirection via Security Headers and Exploit it Using BurpSuite</vt:lpstr>
      <vt:lpstr>Agenda</vt:lpstr>
      <vt:lpstr>INTRODUCTION TO OPEN REDIRECTION</vt:lpstr>
      <vt:lpstr>TARGET WEBSITE SELECTION</vt:lpstr>
      <vt:lpstr>SECURITY HEADERS SCAN</vt:lpstr>
      <vt:lpstr>MISSING / MISCONFIGURED SECURITY HEADERS</vt:lpstr>
      <vt:lpstr>BURPSUITE SETUP &amp; CONFIGURATION</vt:lpstr>
      <vt:lpstr>OPEN REDIRECTION VULNERABILITY TESTING</vt:lpstr>
      <vt:lpstr>OPEN REDIRECT DEMONSTRATION (PRACTICAL)</vt:lpstr>
      <vt:lpstr>ATTACK SCENARIO (PHISHING)</vt:lpstr>
      <vt:lpstr>SECURITY RISK ASSESSMENT</vt:lpstr>
      <vt:lpstr>MITIGATION STRATEGIES</vt:lpstr>
      <vt:lpstr>CONCLUSION</vt:lpstr>
      <vt:lpstr>Questions ?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Jheel Bhandia</cp:lastModifiedBy>
  <cp:revision>1</cp:revision>
  <dcterms:created xsi:type="dcterms:W3CDTF">2025-10-12T12:16:39Z</dcterms:created>
  <dcterms:modified xsi:type="dcterms:W3CDTF">2025-12-25T09:40:20Z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2025-10-12T00:00:00Z</vt:filetime>
  </property>
  <property fmtid="{D5CDD505-2E9C-101B-9397-08002B2CF9AE}" pid="3" name="LastSaved">
    <vt:filetime>2025-10-12T00:00:00Z</vt:filetime>
  </property>
</Properties>
</file>